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66" r:id="rId4"/>
    <p:sldId id="267" r:id="rId5"/>
    <p:sldId id="268" r:id="rId6"/>
    <p:sldId id="269" r:id="rId7"/>
    <p:sldId id="271" r:id="rId8"/>
    <p:sldId id="276" r:id="rId9"/>
    <p:sldId id="277" r:id="rId10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14" y="11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4899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3C7537F-8F8F-4855-8202-10BE4D9E024A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36000" tIns="36000" rIns="36000" bIns="3600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60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 bwMode="auto"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7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327E907-E825-4BEA-A06A-F60E705763D6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_OBJECT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 bwMode="auto"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13" name="PlaceHolder 4"/>
          <p:cNvSpPr>
            <a:spLocks noGrp="1"/>
          </p:cNvSpPr>
          <p:nvPr>
            <p:ph type="dt" idx="7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ftr" idx="8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15" name="PlaceHolder 6"/>
          <p:cNvSpPr>
            <a:spLocks noGrp="1"/>
          </p:cNvSpPr>
          <p:nvPr>
            <p:ph type="sldNum" idx="9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C771967-C786-4657-95DE-4E24D32CAA61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WO_OBJECTS_WITH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 bwMode="auto">
          <a:xfrm>
            <a:off x="839879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 bwMode="auto"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 bwMode="auto"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1" name="PlaceHolder 6"/>
          <p:cNvSpPr>
            <a:spLocks noGrp="1"/>
          </p:cNvSpPr>
          <p:nvPr>
            <p:ph type="dt" idx="10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22" name="PlaceHolder 7"/>
          <p:cNvSpPr>
            <a:spLocks noGrp="1"/>
          </p:cNvSpPr>
          <p:nvPr>
            <p:ph type="ftr" idx="11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23" name="PlaceHolder 8"/>
          <p:cNvSpPr>
            <a:spLocks noGrp="1"/>
          </p:cNvSpPr>
          <p:nvPr>
            <p:ph type="sldNum" idx="12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499BD5A-1A02-4EA6-9E9E-ACD911A0C2F3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OBJECT_WITH_CAPTIO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3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ftr" idx="14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5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D7A5E01-64B5-4E95-B252-6966C2FA7755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PICTURE_WITH_CAPTIO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dt" idx="16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34" name="PlaceHolder 5"/>
          <p:cNvSpPr>
            <a:spLocks noGrp="1"/>
          </p:cNvSpPr>
          <p:nvPr>
            <p:ph type="ftr" idx="17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sldNum" idx="18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9DD2252B-3676-4B8D-9AEC-DE27AD2BED86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VERTICAL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 bwMode="auto">
          <a:xfrm rot="5400000">
            <a:off x="3920760" y="-1256040"/>
            <a:ext cx="4350600" cy="1051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38" name="PlaceHolder 3"/>
          <p:cNvSpPr>
            <a:spLocks noGrp="1"/>
          </p:cNvSpPr>
          <p:nvPr>
            <p:ph type="dt" idx="19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39" name="PlaceHolder 4"/>
          <p:cNvSpPr>
            <a:spLocks noGrp="1"/>
          </p:cNvSpPr>
          <p:nvPr>
            <p:ph type="ftr" idx="20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0" name="PlaceHolder 5"/>
          <p:cNvSpPr>
            <a:spLocks noGrp="1"/>
          </p:cNvSpPr>
          <p:nvPr>
            <p:ph type="sldNum" idx="21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AD00CC3-21C9-4D5C-B04A-41DE5DC29B83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_TITLE_AND_VERTICAL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 bwMode="auto">
          <a:xfrm rot="5400000">
            <a:off x="7133760" y="1956240"/>
            <a:ext cx="5811120" cy="262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 bwMode="auto">
          <a:xfrm rot="5400000">
            <a:off x="1800360" y="-596160"/>
            <a:ext cx="5811120" cy="773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CF4C71A-1802-46DD-8279-7EF8C9B8608B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" name="Google Shape;73;p2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Google Shape;74;p2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Google Shape;75;p2"/>
          <p:cNvSpPr/>
          <p:nvPr/>
        </p:nvSpPr>
        <p:spPr bwMode="auto">
          <a:xfrm>
            <a:off x="522360" y="929879"/>
            <a:ext cx="10947960" cy="4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>
                <a:solidFill>
                  <a:srgbClr val="082326"/>
                </a:solidFill>
                <a:latin typeface="Montserrat ExtraBold"/>
                <a:ea typeface="Montserrat ExtraBold"/>
              </a:rPr>
              <a:t>Shortlist кандидатов</a:t>
            </a:r>
            <a:endParaRPr lang="ru-RU" sz="2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Google Shape;76;p2"/>
          <p:cNvSpPr/>
          <p:nvPr/>
        </p:nvSpPr>
        <p:spPr bwMode="auto">
          <a:xfrm>
            <a:off x="527400" y="1364040"/>
            <a:ext cx="109432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800" b="1" u="none" strike="noStrike">
                <a:solidFill>
                  <a:schemeClr val="dk1"/>
                </a:solidFill>
                <a:latin typeface="Play"/>
                <a:ea typeface="Play"/>
              </a:rPr>
              <a:t>Придумайте 3-5 вариантов задач, которые могли бы стать вашим финальным проектом на курсе</a:t>
            </a:r>
            <a:endParaRPr lang="ru-RU" sz="18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6" name="Google Shape;77;p2"/>
          <p:cNvCxnSpPr>
            <a:cxnSpLocks/>
          </p:cNvCxnSpPr>
          <p:nvPr/>
        </p:nvCxnSpPr>
        <p:spPr bwMode="auto">
          <a:xfrm>
            <a:off x="0" y="34502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7" name="Google Shape;78;p2"/>
          <p:cNvCxnSpPr>
            <a:cxnSpLocks/>
          </p:cNvCxnSpPr>
          <p:nvPr/>
        </p:nvCxnSpPr>
        <p:spPr bwMode="auto">
          <a:xfrm>
            <a:off x="0" y="41630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8" name="Google Shape;79;p2"/>
          <p:cNvCxnSpPr>
            <a:cxnSpLocks/>
          </p:cNvCxnSpPr>
          <p:nvPr/>
        </p:nvCxnSpPr>
        <p:spPr bwMode="auto">
          <a:xfrm>
            <a:off x="0" y="48758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sp>
        <p:nvSpPr>
          <p:cNvPr id="59" name="Google Shape;80;p2"/>
          <p:cNvSpPr/>
          <p:nvPr/>
        </p:nvSpPr>
        <p:spPr bwMode="auto">
          <a:xfrm>
            <a:off x="522360" y="2203200"/>
            <a:ext cx="200772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Название проекта</a:t>
            </a:r>
            <a:endParaRPr lang="ru-RU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81;p2"/>
          <p:cNvSpPr/>
          <p:nvPr/>
        </p:nvSpPr>
        <p:spPr bwMode="auto">
          <a:xfrm>
            <a:off x="4216680" y="2203200"/>
            <a:ext cx="270216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Какую бизнес-задачу решаем?</a:t>
            </a:r>
            <a:endParaRPr lang="ru-RU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82;p2"/>
          <p:cNvSpPr/>
          <p:nvPr/>
        </p:nvSpPr>
        <p:spPr bwMode="auto">
          <a:xfrm>
            <a:off x="8605080" y="2203200"/>
            <a:ext cx="336024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Краткое описание </a:t>
            </a:r>
            <a:br>
              <a:rPr sz="1400"/>
            </a:br>
            <a:r>
              <a:rPr lang="ru-RU" sz="1200" b="1" u="none" strike="noStrike">
                <a:solidFill>
                  <a:schemeClr val="dk1"/>
                </a:solidFill>
                <a:latin typeface="Play"/>
                <a:ea typeface="Play"/>
              </a:rPr>
              <a:t>(по возможности укажите какие AI модели планируете использовать)</a:t>
            </a:r>
            <a:endParaRPr lang="ru-RU" sz="12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2" name="Google Shape;83;p2"/>
          <p:cNvCxnSpPr>
            <a:cxnSpLocks/>
          </p:cNvCxnSpPr>
          <p:nvPr/>
        </p:nvCxnSpPr>
        <p:spPr bwMode="auto">
          <a:xfrm>
            <a:off x="87840" y="558828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3" name="Google Shape;84;p2"/>
          <p:cNvCxnSpPr>
            <a:cxnSpLocks/>
          </p:cNvCxnSpPr>
          <p:nvPr/>
        </p:nvCxnSpPr>
        <p:spPr bwMode="auto">
          <a:xfrm flipV="1">
            <a:off x="3345480" y="2670840"/>
            <a:ext cx="720" cy="3852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4" name="Google Shape;85;p2"/>
          <p:cNvCxnSpPr>
            <a:cxnSpLocks/>
          </p:cNvCxnSpPr>
          <p:nvPr/>
        </p:nvCxnSpPr>
        <p:spPr bwMode="auto">
          <a:xfrm flipV="1">
            <a:off x="7704000" y="2670840"/>
            <a:ext cx="720" cy="3852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pic>
        <p:nvPicPr>
          <p:cNvPr id="65" name="Google Shape;86;p2"/>
          <p:cNvPicPr/>
          <p:nvPr/>
        </p:nvPicPr>
        <p:blipFill>
          <a:blip r:embed="rId4"/>
          <a:srcRect l="10" r="7"/>
          <a:stretch/>
        </p:blipFill>
        <p:spPr bwMode="auto">
          <a:xfrm>
            <a:off x="1080" y="0"/>
            <a:ext cx="121892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88;p2"/>
          <p:cNvSpPr/>
          <p:nvPr/>
        </p:nvSpPr>
        <p:spPr bwMode="auto">
          <a:xfrm>
            <a:off x="635040" y="1991160"/>
            <a:ext cx="8900279" cy="27995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r>
              <a:rPr lang="ru-RU" sz="5400" b="1" dirty="0">
                <a:solidFill>
                  <a:srgbClr val="082326"/>
                </a:solidFill>
                <a:latin typeface="Montserrat"/>
                <a:ea typeface="Montserrat"/>
              </a:rPr>
              <a:t>Доработка интернет-магазина </a:t>
            </a:r>
            <a:r>
              <a:rPr lang="en-US" sz="5400" b="1" dirty="0" err="1">
                <a:solidFill>
                  <a:srgbClr val="082326"/>
                </a:solidFill>
                <a:latin typeface="Montserrat"/>
                <a:ea typeface="Montserrat"/>
              </a:rPr>
              <a:t>DogFood</a:t>
            </a:r>
            <a:endParaRPr lang="ru-RU" sz="5400" b="0" u="none" strike="noStrike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endParaRPr lang="ru-RU" sz="3600" b="0" u="none" strike="noStrike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Google Shape;89;p2"/>
          <p:cNvSpPr/>
          <p:nvPr/>
        </p:nvSpPr>
        <p:spPr bwMode="auto">
          <a:xfrm>
            <a:off x="527400" y="5784120"/>
            <a:ext cx="6648720" cy="7872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91440" rIns="90000" bIns="91440" anchor="t">
            <a:sp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r>
              <a:rPr lang="ru-RU" sz="3600" dirty="0">
                <a:solidFill>
                  <a:srgbClr val="082326"/>
                </a:solidFill>
                <a:latin typeface="Montserrat"/>
              </a:rPr>
              <a:t>Попов Антон Сергеевич</a:t>
            </a:r>
            <a:endParaRPr lang="ru-RU" sz="3600" b="0" u="none" strike="noStrike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191344" y="125162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Доработка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335360" y="919564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Архитектура и структура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6150D0-8E3A-B530-726D-1DB006F62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311" y="1295588"/>
            <a:ext cx="3127336" cy="526813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8BF559A-611F-A1DB-5D3A-AF1552B0E7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386" y="1310939"/>
            <a:ext cx="3127336" cy="52681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EB05B0-6DD9-5AA5-0C89-482E03D6D1E8}"/>
              </a:ext>
            </a:extLst>
          </p:cNvPr>
          <p:cNvSpPr txBox="1"/>
          <p:nvPr/>
        </p:nvSpPr>
        <p:spPr>
          <a:xfrm>
            <a:off x="6672064" y="1292286"/>
            <a:ext cx="472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До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D8710F-726A-6E68-FDB8-A49351852A88}"/>
              </a:ext>
            </a:extLst>
          </p:cNvPr>
          <p:cNvSpPr txBox="1"/>
          <p:nvPr/>
        </p:nvSpPr>
        <p:spPr>
          <a:xfrm>
            <a:off x="9984432" y="1292286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После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D9D19D-EF90-C7DA-5576-00DBD2B41425}"/>
              </a:ext>
            </a:extLst>
          </p:cNvPr>
          <p:cNvSpPr txBox="1"/>
          <p:nvPr/>
        </p:nvSpPr>
        <p:spPr>
          <a:xfrm>
            <a:off x="329378" y="1528221"/>
            <a:ext cx="49565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Структура папок приведена в </a:t>
            </a:r>
            <a:r>
              <a:rPr lang="ru-RU" dirty="0" err="1"/>
              <a:t>соотвествии</a:t>
            </a:r>
            <a:r>
              <a:rPr lang="ru-RU" dirty="0"/>
              <a:t> с </a:t>
            </a:r>
            <a:r>
              <a:rPr lang="en-US" dirty="0"/>
              <a:t>FSD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Часто используемые элемент вынесены в отдельный компонент: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HeaderLink</a:t>
            </a:r>
            <a:endParaRPr lang="ru-R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ErrorMessage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SuccessMessage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InfoBlock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большая страница </a:t>
            </a:r>
            <a:r>
              <a:rPr lang="en-US" dirty="0" err="1"/>
              <a:t>ProductPage</a:t>
            </a:r>
            <a:r>
              <a:rPr lang="en-US" dirty="0"/>
              <a:t> </a:t>
            </a:r>
            <a:r>
              <a:rPr lang="ru-RU" dirty="0"/>
              <a:t>разделена на несколько компонентов</a:t>
            </a:r>
          </a:p>
        </p:txBody>
      </p:sp>
    </p:spTree>
    <p:extLst>
      <p:ext uri="{BB962C8B-B14F-4D97-AF65-F5344CB8AC3E}">
        <p14:creationId xmlns:p14="http://schemas.microsoft.com/office/powerpoint/2010/main" val="2005966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Google Shape;108;g2ec9d073a02_0_5"/>
          <p:cNvSpPr/>
          <p:nvPr/>
        </p:nvSpPr>
        <p:spPr bwMode="auto">
          <a:xfrm>
            <a:off x="335360" y="930718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dirty="0">
                <a:solidFill>
                  <a:srgbClr val="082326"/>
                </a:solidFill>
                <a:latin typeface="Montserrat SemiBold" panose="00000700000000000000" pitchFamily="2" charset="-52"/>
              </a:rPr>
              <a:t>Оптимизация рендеров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sp>
        <p:nvSpPr>
          <p:cNvPr id="2" name="Google Shape;108;g2ec9d073a02_0_5">
            <a:extLst>
              <a:ext uri="{FF2B5EF4-FFF2-40B4-BE49-F238E27FC236}">
                <a16:creationId xmlns:a16="http://schemas.microsoft.com/office/drawing/2014/main" id="{3E5407BE-C47F-1633-111B-2C44DEA83682}"/>
              </a:ext>
            </a:extLst>
          </p:cNvPr>
          <p:cNvSpPr/>
          <p:nvPr/>
        </p:nvSpPr>
        <p:spPr bwMode="auto">
          <a:xfrm>
            <a:off x="191344" y="125162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Доработка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BF90211-7890-65E3-1572-FC004B089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3214" y="1528221"/>
            <a:ext cx="3914713" cy="519125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D5CD28F-77A5-86B5-DABC-7D307D8C69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1704" y="1528221"/>
            <a:ext cx="4629573" cy="51912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87E6A5-E400-06E3-4003-6EBBA215B941}"/>
              </a:ext>
            </a:extLst>
          </p:cNvPr>
          <p:cNvSpPr txBox="1"/>
          <p:nvPr/>
        </p:nvSpPr>
        <p:spPr bwMode="auto">
          <a:xfrm>
            <a:off x="329379" y="1528221"/>
            <a:ext cx="28863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Сократил время обновления при нажатии на «лайк»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A3A9CA-AC43-5A26-B122-4A399DB42C0F}"/>
              </a:ext>
            </a:extLst>
          </p:cNvPr>
          <p:cNvSpPr txBox="1"/>
          <p:nvPr/>
        </p:nvSpPr>
        <p:spPr bwMode="auto">
          <a:xfrm>
            <a:off x="5519936" y="1528221"/>
            <a:ext cx="472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До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C0D55B-C574-6158-4F98-A4F4E8242BFE}"/>
              </a:ext>
            </a:extLst>
          </p:cNvPr>
          <p:cNvSpPr txBox="1"/>
          <p:nvPr/>
        </p:nvSpPr>
        <p:spPr bwMode="auto">
          <a:xfrm>
            <a:off x="9696400" y="1528221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После</a:t>
            </a:r>
          </a:p>
        </p:txBody>
      </p:sp>
    </p:spTree>
    <p:extLst>
      <p:ext uri="{BB962C8B-B14F-4D97-AF65-F5344CB8AC3E}">
        <p14:creationId xmlns:p14="http://schemas.microsoft.com/office/powerpoint/2010/main" val="3119566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Google Shape;108;g2ec9d073a02_0_5">
            <a:extLst>
              <a:ext uri="{FF2B5EF4-FFF2-40B4-BE49-F238E27FC236}">
                <a16:creationId xmlns:a16="http://schemas.microsoft.com/office/drawing/2014/main" id="{CCF55618-B0C9-1E4E-0E23-0C8C2D42689A}"/>
              </a:ext>
            </a:extLst>
          </p:cNvPr>
          <p:cNvSpPr/>
          <p:nvPr/>
        </p:nvSpPr>
        <p:spPr bwMode="auto">
          <a:xfrm>
            <a:off x="191344" y="125162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Доработка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3" name="Google Shape;108;g2ec9d073a02_0_5">
            <a:extLst>
              <a:ext uri="{FF2B5EF4-FFF2-40B4-BE49-F238E27FC236}">
                <a16:creationId xmlns:a16="http://schemas.microsoft.com/office/drawing/2014/main" id="{9A3C5E09-618C-81A8-B74F-50BF42349744}"/>
              </a:ext>
            </a:extLst>
          </p:cNvPr>
          <p:cNvSpPr/>
          <p:nvPr/>
        </p:nvSpPr>
        <p:spPr bwMode="auto">
          <a:xfrm>
            <a:off x="335360" y="930718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dirty="0">
                <a:solidFill>
                  <a:srgbClr val="082326"/>
                </a:solidFill>
                <a:latin typeface="Montserrat SemiBold" panose="00000700000000000000" pitchFamily="2" charset="-52"/>
              </a:rPr>
              <a:t>React Portal</a:t>
            </a:r>
            <a:endParaRPr lang="ru-RU" sz="2600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25596-2E9B-3E7F-D04E-BAF4A11046C9}"/>
              </a:ext>
            </a:extLst>
          </p:cNvPr>
          <p:cNvSpPr txBox="1"/>
          <p:nvPr/>
        </p:nvSpPr>
        <p:spPr bwMode="auto">
          <a:xfrm>
            <a:off x="329379" y="1528221"/>
            <a:ext cx="36063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Преобразовал страницу с информацией о пользователе как модальное окно. Окно закрывается при клике вне или нажатии на серую область</a:t>
            </a:r>
          </a:p>
          <a:p>
            <a:endParaRPr lang="ru-RU" dirty="0"/>
          </a:p>
          <a:p>
            <a:r>
              <a:rPr lang="ru-RU" dirty="0"/>
              <a:t>При появлении окна </a:t>
            </a:r>
            <a:r>
              <a:rPr lang="en-US" dirty="0"/>
              <a:t>scroll </a:t>
            </a:r>
            <a:r>
              <a:rPr lang="ru-RU" dirty="0"/>
              <a:t>главной страницы блокируется.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477A02B-0CA9-6777-F55B-F8B621DAA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470" y="1475548"/>
            <a:ext cx="8051530" cy="385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12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Google Shape;108;g2ec9d073a02_0_5">
            <a:extLst>
              <a:ext uri="{FF2B5EF4-FFF2-40B4-BE49-F238E27FC236}">
                <a16:creationId xmlns:a16="http://schemas.microsoft.com/office/drawing/2014/main" id="{A4A43B27-D48E-590C-1E4B-BF9F72DFB478}"/>
              </a:ext>
            </a:extLst>
          </p:cNvPr>
          <p:cNvSpPr/>
          <p:nvPr/>
        </p:nvSpPr>
        <p:spPr bwMode="auto">
          <a:xfrm>
            <a:off x="191344" y="125162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Доработка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3" name="Google Shape;108;g2ec9d073a02_0_5">
            <a:extLst>
              <a:ext uri="{FF2B5EF4-FFF2-40B4-BE49-F238E27FC236}">
                <a16:creationId xmlns:a16="http://schemas.microsoft.com/office/drawing/2014/main" id="{BE1396E7-9FA6-11B5-1D84-9F85B9EAE7B1}"/>
              </a:ext>
            </a:extLst>
          </p:cNvPr>
          <p:cNvSpPr/>
          <p:nvPr/>
        </p:nvSpPr>
        <p:spPr bwMode="auto">
          <a:xfrm>
            <a:off x="335360" y="930718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dirty="0" err="1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useRef</a:t>
            </a:r>
            <a:r>
              <a:rPr lang="ru-RU" sz="2600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  – реальное применение</a:t>
            </a:r>
            <a:endParaRPr lang="ru-RU" sz="2600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CF95E5-703A-735F-0504-373640507548}"/>
              </a:ext>
            </a:extLst>
          </p:cNvPr>
          <p:cNvSpPr txBox="1"/>
          <p:nvPr/>
        </p:nvSpPr>
        <p:spPr bwMode="auto">
          <a:xfrm>
            <a:off x="335360" y="1772816"/>
            <a:ext cx="49565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Создал хук </a:t>
            </a:r>
            <a:r>
              <a:rPr lang="en-US" dirty="0" err="1"/>
              <a:t>useAnalytics</a:t>
            </a:r>
            <a:r>
              <a:rPr lang="en-US" dirty="0"/>
              <a:t> </a:t>
            </a:r>
            <a:r>
              <a:rPr lang="ru-RU" dirty="0"/>
              <a:t>для отслеживания действий пользователя на странице.</a:t>
            </a:r>
          </a:p>
          <a:p>
            <a:endParaRPr lang="ru-RU" dirty="0"/>
          </a:p>
          <a:p>
            <a:r>
              <a:rPr lang="ru-RU" dirty="0"/>
              <a:t>Хук можно использовать для продуктовой аналитики и А</a:t>
            </a:r>
            <a:r>
              <a:rPr lang="en-US" dirty="0"/>
              <a:t>/B</a:t>
            </a:r>
            <a:r>
              <a:rPr lang="ru-RU" dirty="0"/>
              <a:t> тестирования (при реализации отправки статистики на сервер)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C1226AB-1A43-2D2D-B7CC-7428119B6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936" y="1772816"/>
            <a:ext cx="6068272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618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286DDE-063B-5074-2944-9B3A10926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340" y="1581615"/>
            <a:ext cx="5535617" cy="2520280"/>
          </a:xfrm>
          <a:prstGeom prst="rect">
            <a:avLst/>
          </a:prstGeom>
        </p:spPr>
      </p:pic>
      <p:sp>
        <p:nvSpPr>
          <p:cNvPr id="5" name="Google Shape;108;g2ec9d073a02_0_5">
            <a:extLst>
              <a:ext uri="{FF2B5EF4-FFF2-40B4-BE49-F238E27FC236}">
                <a16:creationId xmlns:a16="http://schemas.microsoft.com/office/drawing/2014/main" id="{869ADD00-52AA-474B-1176-3353014FFD4B}"/>
              </a:ext>
            </a:extLst>
          </p:cNvPr>
          <p:cNvSpPr/>
          <p:nvPr/>
        </p:nvSpPr>
        <p:spPr bwMode="auto">
          <a:xfrm>
            <a:off x="191344" y="125162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Доработка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6" name="Google Shape;108;g2ec9d073a02_0_5">
            <a:extLst>
              <a:ext uri="{FF2B5EF4-FFF2-40B4-BE49-F238E27FC236}">
                <a16:creationId xmlns:a16="http://schemas.microsoft.com/office/drawing/2014/main" id="{42289101-D6E6-C0F2-2945-3B37DB2081E4}"/>
              </a:ext>
            </a:extLst>
          </p:cNvPr>
          <p:cNvSpPr/>
          <p:nvPr/>
        </p:nvSpPr>
        <p:spPr bwMode="auto">
          <a:xfrm>
            <a:off x="335360" y="930718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dirty="0">
                <a:solidFill>
                  <a:srgbClr val="082326"/>
                </a:solidFill>
                <a:latin typeface="Montserrat SemiBold" panose="00000700000000000000" pitchFamily="2" charset="-52"/>
              </a:rPr>
              <a:t>Сборка через</a:t>
            </a:r>
            <a:r>
              <a:rPr lang="en-US" sz="2600" dirty="0">
                <a:solidFill>
                  <a:srgbClr val="082326"/>
                </a:solidFill>
                <a:latin typeface="Montserrat SemiBold" panose="00000700000000000000" pitchFamily="2" charset="-52"/>
              </a:rPr>
              <a:t> Vite (</a:t>
            </a:r>
            <a:r>
              <a:rPr lang="en-US" sz="2600" dirty="0" err="1">
                <a:solidFill>
                  <a:srgbClr val="082326"/>
                </a:solidFill>
                <a:latin typeface="Montserrat SemiBold" panose="00000700000000000000" pitchFamily="2" charset="-52"/>
              </a:rPr>
              <a:t>esbuild</a:t>
            </a:r>
            <a:r>
              <a:rPr lang="en-US" sz="2600" dirty="0">
                <a:solidFill>
                  <a:srgbClr val="082326"/>
                </a:solidFill>
                <a:latin typeface="Montserrat SemiBold" panose="00000700000000000000" pitchFamily="2" charset="-52"/>
              </a:rPr>
              <a:t>)	</a:t>
            </a:r>
            <a:endParaRPr lang="ru-RU" sz="2600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FB5F36-3CF3-68D0-E06B-B5EC0F346696}"/>
              </a:ext>
            </a:extLst>
          </p:cNvPr>
          <p:cNvSpPr txBox="1"/>
          <p:nvPr/>
        </p:nvSpPr>
        <p:spPr bwMode="auto">
          <a:xfrm>
            <a:off x="329378" y="1528221"/>
            <a:ext cx="51185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 счет использование современного сборщика удалось: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Сократить время сборки почти в 10 раз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Сократить размер бандла почти в 3 раза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ru-RU" dirty="0"/>
              <a:t>Это увеличивает скорость, удобство разработки и качество работы разработчика.</a:t>
            </a:r>
          </a:p>
        </p:txBody>
      </p:sp>
    </p:spTree>
    <p:extLst>
      <p:ext uri="{BB962C8B-B14F-4D97-AF65-F5344CB8AC3E}">
        <p14:creationId xmlns:p14="http://schemas.microsoft.com/office/powerpoint/2010/main" val="923680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Google Shape;108;g2ec9d073a02_0_5">
            <a:extLst>
              <a:ext uri="{FF2B5EF4-FFF2-40B4-BE49-F238E27FC236}">
                <a16:creationId xmlns:a16="http://schemas.microsoft.com/office/drawing/2014/main" id="{56A81662-C4DB-2AAD-0FF2-47A48038A64F}"/>
              </a:ext>
            </a:extLst>
          </p:cNvPr>
          <p:cNvSpPr/>
          <p:nvPr/>
        </p:nvSpPr>
        <p:spPr bwMode="auto">
          <a:xfrm>
            <a:off x="191344" y="125162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Доработка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9" name="Google Shape;108;g2ec9d073a02_0_5">
            <a:extLst>
              <a:ext uri="{FF2B5EF4-FFF2-40B4-BE49-F238E27FC236}">
                <a16:creationId xmlns:a16="http://schemas.microsoft.com/office/drawing/2014/main" id="{2FB1DF24-1517-39D4-14D0-7021F96A36D4}"/>
              </a:ext>
            </a:extLst>
          </p:cNvPr>
          <p:cNvSpPr/>
          <p:nvPr/>
        </p:nvSpPr>
        <p:spPr bwMode="auto">
          <a:xfrm>
            <a:off x="335360" y="930718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dirty="0">
                <a:solidFill>
                  <a:srgbClr val="082326"/>
                </a:solidFill>
                <a:latin typeface="Montserrat SemiBold" panose="00000700000000000000" pitchFamily="2" charset="-52"/>
              </a:rPr>
              <a:t>Применение </a:t>
            </a:r>
            <a:r>
              <a:rPr lang="en-US" sz="2600" dirty="0">
                <a:solidFill>
                  <a:srgbClr val="082326"/>
                </a:solidFill>
                <a:latin typeface="Montserrat SemiBold" panose="00000700000000000000" pitchFamily="2" charset="-52"/>
              </a:rPr>
              <a:t>React 19 Hooks</a:t>
            </a:r>
            <a:endParaRPr lang="ru-RU" sz="2600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656C2F-3DF7-6451-A7F9-E377006B1DC6}"/>
              </a:ext>
            </a:extLst>
          </p:cNvPr>
          <p:cNvSpPr txBox="1"/>
          <p:nvPr/>
        </p:nvSpPr>
        <p:spPr bwMode="auto">
          <a:xfrm>
            <a:off x="329378" y="1528221"/>
            <a:ext cx="511855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Использовал хук </a:t>
            </a:r>
            <a:r>
              <a:rPr lang="en-US" dirty="0" err="1"/>
              <a:t>useOptimistic</a:t>
            </a:r>
            <a:r>
              <a:rPr lang="en-US" dirty="0"/>
              <a:t> </a:t>
            </a:r>
            <a:r>
              <a:rPr lang="ru-RU" dirty="0"/>
              <a:t>для кнопки добавления в избранное, чтобы состояние кнопки на карточке менялось сразу.</a:t>
            </a:r>
          </a:p>
          <a:p>
            <a:endParaRPr lang="ru-RU" dirty="0"/>
          </a:p>
          <a:p>
            <a:r>
              <a:rPr lang="ru-RU" dirty="0"/>
              <a:t>При ошибке в отправке запроса, состояние автоматически возвращается обратно.</a:t>
            </a:r>
            <a:endParaRPr lang="en-US" dirty="0"/>
          </a:p>
          <a:p>
            <a:endParaRPr lang="en-US" dirty="0"/>
          </a:p>
          <a:p>
            <a:r>
              <a:rPr lang="ru-RU" dirty="0"/>
              <a:t>В случае с кнопкой лайка оптимистичное обновление таким методом работает не очень хорошо, т.к. после обновления происходит перезапрос данных с сервера и из-за этого кнопка лайка «мигает» в момент, когда отправка запроса на изменение завершена, а получение новых данных еще не произошло (в этот момент </a:t>
            </a:r>
            <a:r>
              <a:rPr lang="en-US" dirty="0"/>
              <a:t>Action </a:t>
            </a:r>
            <a:r>
              <a:rPr lang="ru-RU" dirty="0"/>
              <a:t>считается выполненным и происходит возврат старого состояния).</a:t>
            </a:r>
            <a:endParaRPr lang="en-US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C5712A7-40DE-1190-9D7E-A5B312F1C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050" y="1528221"/>
            <a:ext cx="5221300" cy="515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138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" name="Google Shape;73;p2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Google Shape;74;p2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Google Shape;75;p2"/>
          <p:cNvSpPr/>
          <p:nvPr/>
        </p:nvSpPr>
        <p:spPr bwMode="auto">
          <a:xfrm>
            <a:off x="522360" y="929879"/>
            <a:ext cx="10947960" cy="4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>
                <a:solidFill>
                  <a:srgbClr val="082326"/>
                </a:solidFill>
                <a:latin typeface="Montserrat ExtraBold"/>
                <a:ea typeface="Montserrat ExtraBold"/>
              </a:rPr>
              <a:t>Shortlist кандидатов</a:t>
            </a:r>
            <a:endParaRPr lang="ru-RU" sz="2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Google Shape;76;p2"/>
          <p:cNvSpPr/>
          <p:nvPr/>
        </p:nvSpPr>
        <p:spPr bwMode="auto">
          <a:xfrm>
            <a:off x="527400" y="1364040"/>
            <a:ext cx="109432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800" b="1" u="none" strike="noStrike">
                <a:solidFill>
                  <a:schemeClr val="dk1"/>
                </a:solidFill>
                <a:latin typeface="Play"/>
                <a:ea typeface="Play"/>
              </a:rPr>
              <a:t>Придумайте 3-5 вариантов задач, которые могли бы стать вашим финальным проектом на курсе</a:t>
            </a:r>
            <a:endParaRPr lang="ru-RU" sz="18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6" name="Google Shape;77;p2"/>
          <p:cNvCxnSpPr>
            <a:cxnSpLocks/>
          </p:cNvCxnSpPr>
          <p:nvPr/>
        </p:nvCxnSpPr>
        <p:spPr bwMode="auto">
          <a:xfrm>
            <a:off x="0" y="34502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7" name="Google Shape;78;p2"/>
          <p:cNvCxnSpPr>
            <a:cxnSpLocks/>
          </p:cNvCxnSpPr>
          <p:nvPr/>
        </p:nvCxnSpPr>
        <p:spPr bwMode="auto">
          <a:xfrm>
            <a:off x="0" y="41630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8" name="Google Shape;79;p2"/>
          <p:cNvCxnSpPr>
            <a:cxnSpLocks/>
          </p:cNvCxnSpPr>
          <p:nvPr/>
        </p:nvCxnSpPr>
        <p:spPr bwMode="auto">
          <a:xfrm>
            <a:off x="0" y="48758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sp>
        <p:nvSpPr>
          <p:cNvPr id="59" name="Google Shape;80;p2"/>
          <p:cNvSpPr/>
          <p:nvPr/>
        </p:nvSpPr>
        <p:spPr bwMode="auto">
          <a:xfrm>
            <a:off x="522360" y="2203200"/>
            <a:ext cx="200772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Название проекта</a:t>
            </a:r>
            <a:endParaRPr lang="ru-RU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81;p2"/>
          <p:cNvSpPr/>
          <p:nvPr/>
        </p:nvSpPr>
        <p:spPr bwMode="auto">
          <a:xfrm>
            <a:off x="4216680" y="2203200"/>
            <a:ext cx="270216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Какую бизнес-задачу решаем?</a:t>
            </a:r>
            <a:endParaRPr lang="ru-RU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82;p2"/>
          <p:cNvSpPr/>
          <p:nvPr/>
        </p:nvSpPr>
        <p:spPr bwMode="auto">
          <a:xfrm>
            <a:off x="8605080" y="2203200"/>
            <a:ext cx="336024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Краткое описание </a:t>
            </a:r>
            <a:br>
              <a:rPr sz="1400"/>
            </a:br>
            <a:r>
              <a:rPr lang="ru-RU" sz="1200" b="1" u="none" strike="noStrike">
                <a:solidFill>
                  <a:schemeClr val="dk1"/>
                </a:solidFill>
                <a:latin typeface="Play"/>
                <a:ea typeface="Play"/>
              </a:rPr>
              <a:t>(по возможности укажите какие AI модели планируете использовать)</a:t>
            </a:r>
            <a:endParaRPr lang="ru-RU" sz="12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2" name="Google Shape;83;p2"/>
          <p:cNvCxnSpPr>
            <a:cxnSpLocks/>
          </p:cNvCxnSpPr>
          <p:nvPr/>
        </p:nvCxnSpPr>
        <p:spPr bwMode="auto">
          <a:xfrm>
            <a:off x="87840" y="558828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3" name="Google Shape;84;p2"/>
          <p:cNvCxnSpPr>
            <a:cxnSpLocks/>
          </p:cNvCxnSpPr>
          <p:nvPr/>
        </p:nvCxnSpPr>
        <p:spPr bwMode="auto">
          <a:xfrm flipV="1">
            <a:off x="3345480" y="2670840"/>
            <a:ext cx="720" cy="3852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4" name="Google Shape;85;p2"/>
          <p:cNvCxnSpPr>
            <a:cxnSpLocks/>
          </p:cNvCxnSpPr>
          <p:nvPr/>
        </p:nvCxnSpPr>
        <p:spPr bwMode="auto">
          <a:xfrm flipV="1">
            <a:off x="7704000" y="2670840"/>
            <a:ext cx="720" cy="3852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pic>
        <p:nvPicPr>
          <p:cNvPr id="65" name="Google Shape;86;p2"/>
          <p:cNvPicPr/>
          <p:nvPr/>
        </p:nvPicPr>
        <p:blipFill>
          <a:blip r:embed="rId4"/>
          <a:srcRect l="10" r="7"/>
          <a:stretch/>
        </p:blipFill>
        <p:spPr bwMode="auto">
          <a:xfrm>
            <a:off x="1080" y="0"/>
            <a:ext cx="121892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88;p2"/>
          <p:cNvSpPr/>
          <p:nvPr/>
        </p:nvSpPr>
        <p:spPr bwMode="auto">
          <a:xfrm>
            <a:off x="635040" y="1991160"/>
            <a:ext cx="8900279" cy="18189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r>
              <a:rPr lang="ru-RU" sz="5400" b="1" dirty="0">
                <a:solidFill>
                  <a:srgbClr val="082326"/>
                </a:solidFill>
                <a:latin typeface="Montserrat"/>
                <a:ea typeface="Montserrat"/>
              </a:rPr>
              <a:t>Выводы</a:t>
            </a:r>
            <a:endParaRPr lang="ru-RU" sz="5400" b="0" u="none" strike="noStrike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endParaRPr lang="ru-RU" sz="3600" b="0" u="none" strike="noStrike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9066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Google Shape;108;g2ec9d073a02_0_5">
            <a:extLst>
              <a:ext uri="{FF2B5EF4-FFF2-40B4-BE49-F238E27FC236}">
                <a16:creationId xmlns:a16="http://schemas.microsoft.com/office/drawing/2014/main" id="{4B882610-6D6B-2538-1D9D-459E8A859910}"/>
              </a:ext>
            </a:extLst>
          </p:cNvPr>
          <p:cNvSpPr/>
          <p:nvPr/>
        </p:nvSpPr>
        <p:spPr bwMode="auto">
          <a:xfrm>
            <a:off x="191344" y="125162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>
                <a:solidFill>
                  <a:srgbClr val="082326"/>
                </a:solidFill>
                <a:latin typeface="Montserrat ExtraBold"/>
                <a:ea typeface="Montserrat ExtraBold"/>
              </a:rPr>
              <a:t>Доработка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4" name="Google Shape;108;g2ec9d073a02_0_5">
            <a:extLst>
              <a:ext uri="{FF2B5EF4-FFF2-40B4-BE49-F238E27FC236}">
                <a16:creationId xmlns:a16="http://schemas.microsoft.com/office/drawing/2014/main" id="{5A423C71-5970-B11A-D1A6-DD7E5D3B743F}"/>
              </a:ext>
            </a:extLst>
          </p:cNvPr>
          <p:cNvSpPr/>
          <p:nvPr/>
        </p:nvSpPr>
        <p:spPr bwMode="auto">
          <a:xfrm>
            <a:off x="335360" y="930718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dirty="0">
                <a:solidFill>
                  <a:srgbClr val="082326"/>
                </a:solidFill>
                <a:latin typeface="Montserrat SemiBold" panose="00000700000000000000" pitchFamily="2" charset="-52"/>
              </a:rPr>
              <a:t>Применение </a:t>
            </a:r>
            <a:r>
              <a:rPr lang="en-US" sz="2600" dirty="0">
                <a:solidFill>
                  <a:srgbClr val="082326"/>
                </a:solidFill>
                <a:latin typeface="Montserrat SemiBold" panose="00000700000000000000" pitchFamily="2" charset="-52"/>
              </a:rPr>
              <a:t>React 19 Hooks</a:t>
            </a:r>
            <a:endParaRPr lang="ru-RU" sz="2600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9C8DA0-9655-B400-9E02-7304FAF51940}"/>
              </a:ext>
            </a:extLst>
          </p:cNvPr>
          <p:cNvSpPr txBox="1"/>
          <p:nvPr/>
        </p:nvSpPr>
        <p:spPr bwMode="auto">
          <a:xfrm>
            <a:off x="549765" y="1916832"/>
            <a:ext cx="1023111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tabLst>
                <a:tab pos="0" algn="l"/>
              </a:tabLst>
              <a:defRPr/>
            </a:pPr>
            <a:r>
              <a:rPr lang="ru-RU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Приобретенные навыки: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ru-RU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Познакомился с концепцией </a:t>
            </a:r>
            <a:r>
              <a:rPr lang="en-US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Feature Sliced Design.</a:t>
            </a:r>
            <a:endParaRPr lang="ru-RU" dirty="0">
              <a:solidFill>
                <a:srgbClr val="082326"/>
              </a:solidFill>
              <a:latin typeface="Montserrat SemiBold" panose="00000700000000000000" pitchFamily="2" charset="-52"/>
              <a:ea typeface="Montserrat ExtraBold"/>
              <a:sym typeface="SB Sans Display Regular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ru-RU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Узнал особенности различных сборщиков</a:t>
            </a:r>
            <a:r>
              <a:rPr lang="en-US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.</a:t>
            </a:r>
            <a:endParaRPr lang="ru-RU" dirty="0">
              <a:solidFill>
                <a:srgbClr val="082326"/>
              </a:solidFill>
              <a:latin typeface="Montserrat SemiBold" panose="00000700000000000000" pitchFamily="2" charset="-52"/>
              <a:ea typeface="Montserrat ExtraBold"/>
              <a:sym typeface="SB Sans Display Regular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ru-RU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Глубже погрузился в настройки проекта – настройка сборщиков</a:t>
            </a:r>
            <a:r>
              <a:rPr lang="en-US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, </a:t>
            </a:r>
            <a:r>
              <a:rPr lang="en-US" dirty="0" err="1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ESlint</a:t>
            </a:r>
            <a:r>
              <a:rPr lang="en-US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, TS, </a:t>
            </a:r>
            <a:r>
              <a:rPr lang="ru-RU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настройка путей.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ru-RU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Познакомился с новыми фичами из </a:t>
            </a:r>
            <a:r>
              <a:rPr lang="en-US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React 19.</a:t>
            </a:r>
            <a:endParaRPr lang="ru-RU" dirty="0">
              <a:solidFill>
                <a:srgbClr val="082326"/>
              </a:solidFill>
              <a:latin typeface="Montserrat SemiBold" panose="00000700000000000000" pitchFamily="2" charset="-52"/>
              <a:ea typeface="Montserrat ExtraBold"/>
              <a:sym typeface="SB Sans Display Regular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  <a:defRPr/>
            </a:pPr>
            <a:endParaRPr lang="ru-RU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40313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498</TotalTime>
  <Words>382</Words>
  <Application>Microsoft Office PowerPoint</Application>
  <DocSecurity>0</DocSecurity>
  <PresentationFormat>Широкоэкранный</PresentationFormat>
  <Paragraphs>61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9" baseType="lpstr">
      <vt:lpstr>Arial</vt:lpstr>
      <vt:lpstr>Calibri</vt:lpstr>
      <vt:lpstr>Montserrat</vt:lpstr>
      <vt:lpstr>Montserrat ExtraBold</vt:lpstr>
      <vt:lpstr>Montserrat SemiBold</vt:lpstr>
      <vt:lpstr>Play</vt:lpstr>
      <vt:lpstr>Symbol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synkka synkka</dc:creator>
  <cp:keywords/>
  <dc:description/>
  <cp:lastModifiedBy>Anton Popov</cp:lastModifiedBy>
  <cp:revision>17</cp:revision>
  <dcterms:created xsi:type="dcterms:W3CDTF">2022-04-05T09:52:12Z</dcterms:created>
  <dcterms:modified xsi:type="dcterms:W3CDTF">2026-04-20T15:59:18Z</dcterms:modified>
  <cp:category/>
  <dc:identifier/>
  <cp:contentStatus/>
  <dc:language>ru-RU</dc:language>
  <cp:version/>
</cp:coreProperties>
</file>